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5" r:id="rId10"/>
    <p:sldId id="275" r:id="rId11"/>
    <p:sldId id="276" r:id="rId12"/>
    <p:sldId id="268" r:id="rId13"/>
    <p:sldId id="270" r:id="rId14"/>
    <p:sldId id="271" r:id="rId15"/>
    <p:sldId id="272" r:id="rId16"/>
    <p:sldId id="273" r:id="rId17"/>
    <p:sldId id="274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48840"/>
            <a:ext cx="10972800" cy="1280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3600" b="1">
                <a:solidFill>
                  <a:srgbClr val="000000"/>
                </a:solidFill>
                <a:latin typeface="Calibri"/>
              </a:rPr>
              <a:t>Gaussian Data Regression</a:t>
            </a:r>
            <a:endParaRPr sz="36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Error mitigation for a hybrid qubit–qumode circuit</a:t>
            </a:r>
            <a:endParaRPr sz="2000" b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379476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Same idea as Clifford Data Regression: learn the noise from circuits whose ideal answer is classically easy.</a:t>
            </a:r>
            <a:endParaRPr sz="1800" b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Inspired by Clifford Data Regression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The shared idea</a:t>
            </a:r>
            <a:endParaRPr sz="18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Both methods use a known, classically easy family to get the exact ideal output. They never need the ideal of the hard target circuit.</a:t>
            </a:r>
            <a:endParaRPr sz="1700" b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3035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CDR  (Czarnik et al., 2021)</a:t>
            </a:r>
            <a:endParaRPr sz="17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Replace most gates by Cliffords.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Those circuits are cheap to simulate (Gottesman–Knill).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Run them on the noisy device. Fit noisy → ideal.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Apply the fitted map to the target.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0" y="2331720"/>
            <a:ext cx="53035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GDR  (this work)</a:t>
            </a:r>
            <a:endParaRPr sz="17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Replace the hard bosonic gates by Gaussians.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Those circuits are cheap to simulate (means + covariance, or a product coherent state).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Run the same noisy channel on the twins. Fit noisy → ideal.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Apply the fitted map to the target histogram.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CDR and GDR, one to one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/>
                <a:gridCol w="4297680"/>
                <a:gridCol w="4572000"/>
              </a:tblGrid>
              <a:tr h="487680">
                <a:tc>
                  <a:txBody>
                    <a:bodyPr wrap="square"/>
                    <a:lstStyle/>
                    <a:p>
                      <a:endParaRPr sz="14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CDR</a:t>
                      </a:r>
                      <a:endParaRPr sz="14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GDR</a:t>
                      </a:r>
                      <a:endParaRPr sz="14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Easy gate set</a:t>
                      </a:r>
                      <a:endParaRPr sz="14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Clifford</a:t>
                      </a:r>
                      <a:endParaRPr sz="14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Gaussian</a:t>
                      </a:r>
                      <a:endParaRPr sz="14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Hard leftover</a:t>
                      </a:r>
                      <a:endParaRPr sz="14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T, CZ</a:t>
                      </a:r>
                      <a:endParaRPr sz="14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generic SNAP, ECD</a:t>
                      </a:r>
                      <a:endParaRPr sz="14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Noise analog</a:t>
                      </a:r>
                      <a:endParaRPr sz="14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global depolarizing</a:t>
                      </a:r>
                      <a:endParaRPr sz="14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phase-covariant (loss, thermal, n-dephasing)</a:t>
                      </a:r>
                      <a:endParaRPr sz="14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What is fitted</a:t>
                      </a:r>
                      <a:endParaRPr sz="14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linear map on a scalar observable</a:t>
                      </a:r>
                      <a:endParaRPr sz="14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transfer matrix on the joint histogram</a:t>
                      </a:r>
                      <a:endParaRPr sz="14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Classical cost</a:t>
                      </a:r>
                      <a:endParaRPr sz="14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poly in Cliffords, exp in non-Cliffords</a:t>
                      </a:r>
                      <a:endParaRPr sz="14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poly in Gaussians, exp in non-Gaussians</a:t>
                      </a:r>
                      <a:endParaRPr sz="14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191389"/>
            <a:ext cx="10972800" cy="8686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The name</a:t>
            </a:r>
            <a:endParaRPr sz="17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Phase-covariant means the noise does not pick a preferred cavity phase. Rotating the oscillator before the noise is the same as rotating after.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 descr="phase_covariant_eq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96848"/>
            <a:ext cx="10972800" cy="509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706245"/>
            <a:ext cx="10972800" cy="804672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Positive example — one M exists</a:t>
            </a:r>
            <a:endParaRPr sz="17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Photon loss (also thermal loss, number dephasing). Take two states with the same number histogram but opposite coherence.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" name="Picture 5" descr="phase_covariant_pos_eq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15640"/>
            <a:ext cx="10972800" cy="1341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648200"/>
            <a:ext cx="6035040" cy="2072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Both have p0 = p2 = 1/2. Under loss, the sign of that coherence never enters the photon-number bins, so both produce the same q = Mp.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One column-stochastic M works for every state (end-of-circuit). That is why GDR can learn M on Gaussian twins and apply it to the target.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" name="Picture 7" descr="phase_covariant_pos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648200"/>
            <a:ext cx="4800600" cy="1311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When a single M cannot exist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13232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How D(α) treats |+⟩ and |−⟩ differently</a:t>
            </a:r>
            <a:endParaRPr sz="17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Two paths into n = 1: create a photon from |0⟩, or destroy one from |2⟩. The sign in |±⟩ decides whether those amplitudes cancel or add.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 descr="phase_covariant_neg_eq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11338560" cy="36944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22112"/>
            <a:ext cx="630936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Same p, but the n = 1 probabilities differ, so q+ ≠ q−. No single M can map that p to both histograms. A fit on twins need not apply to a target with different coherences.</a:t>
            </a:r>
            <a:endParaRPr sz="15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A squeeze is the same kind of failure. Comprehensive noise (transmon T1/T2, ECD control error) is this on the hybrid space: M is only an effective fit.</a:t>
            </a:r>
            <a:endParaRPr sz="15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" name="Picture 5" descr="phase_covariant_neg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5322112"/>
            <a:ext cx="4754880" cy="12992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Gaussian gates, and how ECD / SNAP become them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95985"/>
            <a:ext cx="11289030" cy="1874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What a Gaussian gate is, and why it is cheap</a:t>
            </a:r>
            <a:endParaRPr sz="17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Generated by a Hamiltonian at most quadratic in q, p. Common gates: displacement, rotation, squeezing, beam splitter.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A Gaussian state is fixed by a 2m-vector of means and a 2m by 2m covariance. Updates are polynomial in the number of modes, independent of any Fock cutoff.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Cost of the leftover hard gates is exponential in how many you keep (Gaussian rank / cutoff). Same split as Clifford vs T.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852928"/>
            <a:ext cx="5394960" cy="10515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ECD to Gaussian</a:t>
            </a:r>
            <a:endParaRPr sz="17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Snap each ancilla angle onto {0, pi}.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The ancilla stays in the computational basis.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Picture 4" descr="ecd_gaussian_eq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13632"/>
            <a:ext cx="5394960" cy="8972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884051"/>
            <a:ext cx="5394960" cy="183678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From vacuum that is the state. The ideal histogram is the truncated one-mode product evolution (approximately Poisson).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0" y="2852928"/>
            <a:ext cx="5394960" cy="10515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SNAP to Gaussian</a:t>
            </a:r>
            <a:endParaRPr sz="17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Replace each phase list by its least-squares affine fit (constant term zero).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" name="Picture 7" descr="snap_gaussian_eq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913632"/>
            <a:ext cx="5394960" cy="897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4884051"/>
            <a:ext cx="5394960" cy="183678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What remains is displacements and rotations.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A few original SNAP / ECD gates can be left in (t_free = 2) so the twins sit closer to the target.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How GDR is run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 descr="gdr_run_eq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41248"/>
            <a:ext cx="10972800" cy="551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466088"/>
            <a:ext cx="10972800" cy="5254751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1. Target</a:t>
            </a:r>
            <a:endParaRPr sz="16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ECD depth 5 or SNAP depth 2. Score the joint q, n, m histogram against the ideal.</a:t>
            </a:r>
            <a:endParaRPr sz="15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2. Twins</a:t>
            </a:r>
            <a:endParaRPr sz="16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40 twins, same depth and gate count as the target. Mix is 75% / 25% of the twins</a:t>
            </a:r>
            <a:endParaRPr sz="15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75% (30) fully Gaussian (t_free = 0): every ECD angle snapped to {0, pi}; every SNAP phase list replaced by an affine fit.</a:t>
            </a:r>
            <a:endParaRPr sz="15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25% (10) keep t_free = 2 original hard gates, drawn uniformly at random among the (layer, cavity) slots: two of 10 ECD–rotation pairs, or two of 4 SNAP lists.</a:t>
            </a:r>
            <a:endParaRPr sz="15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ECD leftover: unsapped angles, so those ECDs stay the original conditional ECD, not the unconditional displacement plus bit-flip. SNAP leftover: original non-affine phases, not the affine fit. All other gates in those twins are still Gaussianized. Gaussian rank is 2 to the power t_free.</a:t>
            </a:r>
            <a:endParaRPr sz="15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3. Ideal twins</a:t>
            </a:r>
            <a:endParaRPr sz="16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Classical. Fully Gaussian twins use product one-mode evolution, checked against the statevector (TVD below 1e-6).</a:t>
            </a:r>
            <a:endParaRPr sz="15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4. Same noise</a:t>
            </a:r>
            <a:endParaRPr sz="16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Target and twins see the same circuit-noise family, the same readout, and 8,192 shots.</a:t>
            </a:r>
            <a:endParaRPr sz="15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5. Fit M</a:t>
            </a:r>
            <a:endParaRPr sz="16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11 bounded parameters (Kronecker M above), multinomial MLE on the twins.</a:t>
            </a:r>
            <a:endParaRPr sz="15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6. Unfold</a:t>
            </a:r>
            <a:endParaRPr sz="16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Richardson–Lucy on the observed histogram. Keeps probabilities non-negative and normalized. This is gdr_param.</a:t>
            </a:r>
            <a:endParaRPr sz="1500" b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Loss family: paper amplitude-damping Kraus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Pure photon loss, n_th = 0. The same Kraus set is applied independently to each cavity. No qubit channel. No Kerr. This is the only Kraus set in the loss family.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Operators on one cavity (cutoff L = 8)</a:t>
            </a:r>
            <a:endParaRPr sz="1700" b="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Picture 4" descr="kraus_operato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30095"/>
            <a:ext cx="6605905" cy="3152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Lindblad, acting on the density matrix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During each idle of length τ the code uses H = 0. Dissipation is a first-order ODE on ρ, not a single matrix multiply.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The jump term c ρ c† actually moves probability. The anticommutator is only bookkeeping so that Tr ρ stays 1. The finite-time map is then written as Kraus operators and applied locally.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 descr="lindblad_on_rho_eq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113"/>
            <a:ext cx="11155680" cy="3213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2500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Concrete photon loss: if the cavity is in |n⟩⟨n|, the jump a ρ a† produces |n−1⟩⟨n−1| at a rate proportional to n. That is why loss is a classical hop on the histogram.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Transmon T1 is the same idea on the qubit: σ− ρ σ+ sends |1⟩⟨1| to |0⟩⟨0|. Number dephasing uses c = √κφ n̂: no hops in n, only extra decay of coherences ⟨n|ρ|m⟩.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Self-Kerr, acting on the density matrix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Self-Kerr is not a jump. It is ordinary Hamiltonian evolution of the cavity, U ρ U†, from the photon-photon interaction in the oscillator.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Every Fock state |n⟩ only picks up a phase that grows like n(n−1). The number histogram does not change. Superpositions |n⟩+|m⟩ pick up a relative phase, so later non-covariant errors (transmon, control) can see a different state.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 descr="self_kerr_on_rho_eq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73122"/>
            <a:ext cx="11155680" cy="2441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906645"/>
            <a:ext cx="10972800" cy="10394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Comprehensive apply order on ρ, after the (warped) gate: Kerr on cavity 1, Kerr on cavity 2, then transmon Lindblad, then cavity-1 Lindblad, then cavity-2 Lindblad. Each Lindblad map is Σ K ρ K† on that factor.</a:t>
            </a:r>
            <a:endParaRPr sz="1600" b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Readout is after p(q,n,m) = ⟨q n m|ρ|q n m⟩, never inside these maps. Cross-Kerr and residual σz(n1+n2) exist in code and are off.</a:t>
            </a:r>
            <a:endParaRPr sz="1600" b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The transfer matrix: 11 parameters, not 16,384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 descr="transfer_matrix_eq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22960"/>
            <a:ext cx="10972800" cy="4358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13688"/>
            <a:ext cx="10972800" cy="6583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Histogram is 2 by 8 by 8 = 128 bins. A free 128 by 128 matrix has 16,384 entries. Even a free Kronecker model is 4 + 64 + 64 = 132. GDR keeps a physics-shaped kernel with 11 numbers. The suffix 1 vs 2 is cavity 1 (photon number n, factor C1) vs cavity 2 (m, factor C2).</a:t>
            </a:r>
            <a:endParaRPr sz="1500" b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7505" y="2320290"/>
          <a:ext cx="11468100" cy="37547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7445"/>
                <a:gridCol w="2675890"/>
                <a:gridCol w="7644765"/>
              </a:tblGrid>
              <a:tr h="57467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#</a:t>
                      </a:r>
                      <a:endParaRPr sz="13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Parameter</a:t>
                      </a:r>
                      <a:endParaRPr sz="13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What it does to M</a:t>
                      </a:r>
                      <a:endParaRPr sz="13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563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1–2</a:t>
                      </a:r>
                      <a:endParaRPr sz="13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eta_1, eta_2</a:t>
                      </a:r>
                      <a:endParaRPr sz="13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Per cavity. Transmission in that mode’s 8 by 8 thermal-loss kernel. With n_th = 0, only lowers n. Circuit-like.</a:t>
                      </a:r>
                      <a:endParaRPr sz="13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3–4</a:t>
                      </a:r>
                      <a:endParaRPr sz="13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n_th1, n_th2</a:t>
                      </a:r>
                      <a:endParaRPr sz="13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Per cavity. Mean thermal photons in that mode’s bath. Opens n to n+1 heating in the same kernel. Not the state’s mean photon number, not readout.</a:t>
                      </a:r>
                      <a:endParaRPr sz="13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563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5–7</a:t>
                      </a:r>
                      <a:endParaRPr sz="13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p_down, p_up, eps</a:t>
                      </a:r>
                      <a:endParaRPr sz="13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Shared by both cavities. Extra n-independent hops n to n-1 / n to n+1, then leak toward a uniform Fock row. Circuit residual.</a:t>
                      </a:r>
                      <a:endParaRPr sz="13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8–9</a:t>
                      </a:r>
                      <a:endParaRPr sz="13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p01, p10</a:t>
                      </a:r>
                      <a:endParaRPr sz="13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Only Cq. Qubit readout: P(measure 1 | 0) and P(measure 0 | 1). Moves q = 0 or 1. Leaves n and m alone.</a:t>
                      </a:r>
                      <a:endParaRPr sz="13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10–11</a:t>
                      </a:r>
                      <a:endParaRPr sz="1300" b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p_nn1, p_nn2</a:t>
                      </a:r>
                      <a:endParaRPr sz="13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Per cavity, applied last. Detector n to n+1 or n-1 at p_nn/2 each way. Rate does not scale with n. Readout-like.</a:t>
                      </a:r>
                      <a:endParaRPr sz="1300" b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0000" marR="70000" marT="40000" marB="40000" anchor="ctr"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How well it works  (official gdr_param, 108 trials)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 descr="tvd_eq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4937760" cy="649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01342"/>
            <a:ext cx="4937760" cy="5175022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What the 108 trials are</a:t>
            </a:r>
            <a:endParaRPr sz="15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2 ansatze (ECD, SNAP)  ×  2 circuits (random / optimized)  ×  3 noise families  ×  3 κτ  ×  3 readout levels.</a:t>
            </a:r>
            <a:endParaRPr sz="13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Families: loss, thermal+dephasing, comprehensive.  κτ ∈ {0.003, 0.03, 0.1}.  Readout: ideal, realistic, strong.</a:t>
            </a:r>
            <a:endParaRPr sz="13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One instance (H000). Every trial: 8,192 shots and 40 twins.</a:t>
            </a:r>
            <a:endParaRPr sz="13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Mean TVD</a:t>
            </a:r>
            <a:endParaRPr sz="15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0.331  →  0.185     (44% down)</a:t>
            </a:r>
            <a:endParaRPr sz="17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Median TVD</a:t>
            </a:r>
            <a:endParaRPr sz="15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0.285  →  0.127</a:t>
            </a:r>
            <a:endParaRPr sz="17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TVD improves in 93 / 108 trials</a:t>
            </a:r>
            <a:endParaRPr sz="15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Optimized circuits: 54 / 54</a:t>
            </a:r>
            <a:endParaRPr sz="15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Mean-TVD drop by family</a:t>
            </a:r>
            <a:endParaRPr sz="14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loss 49%   ·   thermal 46%   ·   comprehensive 39%</a:t>
            </a:r>
            <a:endParaRPr sz="14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by κτ</a:t>
            </a:r>
            <a:endParaRPr sz="1400" b="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0.003 → 65%    0.03 → 57%    0.1 → 33%</a:t>
            </a:r>
            <a:endParaRPr sz="1400" b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The 15 regressions are almost all ECD / random at κτ ≥ 0.03 (over-correction).</a:t>
            </a:r>
            <a:endParaRPr sz="13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Picture 4" descr="paired_tv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60120"/>
            <a:ext cx="5943600" cy="48283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Example: SNAP, mid noise, strong readout error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Optimized SNAP · loss + thermal + dephasing · κτ = 0.03. Strong readout: qubit flips (p01, p10) = (0.03, 0.08) and Fock n to n+1 or n-1 total hop 0.10.  TVD  0.469 → 0.099. </a:t>
            </a:r>
            <a:endParaRPr sz="15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 descr="case_histogram_sn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11155680" cy="44449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Example: </a:t>
            </a:r>
            <a:r>
              <a:rPr sz="2600" b="1">
                <a:solidFill>
                  <a:srgbClr val="000000"/>
                </a:solidFill>
                <a:latin typeface="Calibri"/>
                <a:sym typeface="+mn-ea"/>
              </a:rPr>
              <a:t>optimized </a:t>
            </a:r>
            <a:r>
              <a:rPr sz="2600" b="1">
                <a:solidFill>
                  <a:srgbClr val="000000"/>
                </a:solidFill>
                <a:latin typeface="Calibri"/>
              </a:rPr>
              <a:t>ECD, mid noise, strong readout error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Official H000 trial, same noise as the SNAP trial. Optimized ECD · loss + thermal + dephasing · κτ = 0.03 · strong readout. Ideal peak is ket 070.  TVD  0.445 → 0.105.   </a:t>
            </a:r>
            <a:endParaRPr sz="15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 descr="case_histogram_ec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11155680" cy="44449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Example: optimized ECD on ket 016, fully Gaussian twins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Research replay on H004 (not the official 108-trial H000 matrix). Ideal peak is the true GS ket 016 (p about 0.93). Comprehensive, κτ = 0.003, same strong readout. All 40 twins fully Gaussian.  TVD  0.311 → 0.115. </a:t>
            </a:r>
            <a:endParaRPr sz="15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 descr="case_histogram_ecd_gaussi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11155680" cy="44449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Example: optimized ECD on ket 016, official twin mix</a:t>
            </a:r>
            <a:endParaRPr sz="26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6692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Same H004 ket-016 target and strong readout. Official twin mix: 30 fully Gaussian plus 10 that keep two leftover ECD gates.  TVD  0.311 → 0.094.  </a:t>
            </a:r>
            <a:endParaRPr sz="1500" b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 descr="case_histogram_ecd_0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11155680" cy="44449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8630</Words>
  <Application>WPS 演示</Application>
  <PresentationFormat>On-screen Show (4:3)</PresentationFormat>
  <Paragraphs>208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方正雅意黑 GB18030L2</vt:lpstr>
      <vt:lpstr>汉仪书宋二KW</vt:lpstr>
      <vt:lpstr>宋体</vt:lpstr>
      <vt:lpstr>Arial Unicode MS</vt:lpstr>
      <vt:lpstr>Apple Symbols</vt:lpstr>
      <vt:lpstr>MS PGothic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zacharyhe</cp:lastModifiedBy>
  <cp:revision>19</cp:revision>
  <dcterms:created xsi:type="dcterms:W3CDTF">2026-09-09T09:00:26Z</dcterms:created>
  <dcterms:modified xsi:type="dcterms:W3CDTF">2026-09-09T09:00:26Z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E3713AC884F67B71F202A16A14E8736F_42</vt:lpwstr>
  </property>
</Properties>
</file>