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hyperlink" Target="https://arxiv.org/abs/2501.11735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hyperlink" Target="https://www.nature.com/articles/s43588-026-01007-8" TargetMode="Externa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9057"/>
            <a:ext cx="11247120" cy="38404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knapsack and 4-SAT are ordinary combinatorial questions — and NP-complete. A quantum machine can still be the right solver.</a:t>
            </a:r>
            <a:endParaRPr sz="1600" b="0" i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3611880" cy="2944368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280160"/>
            <a:ext cx="3319272" cy="272491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Two textbook problems</a:t>
            </a:r>
            <a:endParaRPr sz="1600" b="1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0-1 knapsack.</a:t>
            </a:r>
            <a:endParaRPr sz="1400" b="1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Items with weights and values, a capacity. Can you pack value at least V without overflowing? (Or: pack as much value as possible.)</a:t>
            </a:r>
            <a:endParaRPr sz="1300" b="0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4-SAT.</a:t>
            </a:r>
            <a:endParaRPr sz="1400" b="1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A Boolean formula whose every clause is an OR of four literals. Does any 0/1 assignment make every clause true?</a:t>
            </a:r>
            <a:endParaRPr sz="13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233672" y="1170432"/>
            <a:ext cx="3611880" cy="2944368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9976" y="1280160"/>
            <a:ext cx="3319272" cy="272491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NP-complete, in plain words</a:t>
            </a:r>
            <a:endParaRPr sz="1600" b="1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NP: a proposed answer can be checked quickly (polynomial time).</a:t>
            </a:r>
            <a:endParaRPr sz="1300" b="0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NP-complete: the hardest problems in NP. Every other NP problem can be rewritten as one of them in polynomial time.</a:t>
            </a:r>
            <a:endParaRPr sz="1300" b="0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Easy to verify, believed hard to find. A fast algorithm for any one of them would give a fast algorithm for all of NP.</a:t>
            </a:r>
            <a:endParaRPr sz="13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10144" y="1170432"/>
            <a:ext cx="3721608" cy="2944368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280160"/>
            <a:ext cx="3429000" cy="272491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Why a quantum machine can still help</a:t>
            </a:r>
            <a:endParaRPr sz="1600" b="1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Turn the cost into a Hamiltonian. Variational </a:t>
            </a:r>
            <a:r>
              <a:rPr lang="en-US" sz="1300" b="0" i="0">
                <a:solidFill>
                  <a:srgbClr val="000000"/>
                </a:solidFill>
                <a:latin typeface="Calibri"/>
              </a:rPr>
              <a:t>or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adiabatic algorithms search that landscape in superposition.</a:t>
            </a:r>
            <a:endParaRPr sz="1300" b="0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For SAT-type problems, that is already showing empirical scaling gains — next slide.</a:t>
            </a:r>
            <a:endParaRPr sz="13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4242816"/>
            <a:ext cx="11274552" cy="2267712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52544"/>
            <a:ext cx="10972800" cy="2011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Previous work chose knapsack. We choose 4-SAT.</a:t>
            </a:r>
            <a:endParaRPr sz="1600" b="1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Previous work.  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Dutta, Allen, Xu, et al., “Solving Constrained Optimization Problems Using Hybrid Qubit-Qumode Quantum Devices,” arXiv:2501.11735.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Binary knapsack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as a QUBO, solved with ECD-VQE on a hybrid qubit–qumode device.  </a:t>
            </a:r>
            <a:r>
              <a:rPr sz="1400" b="0" i="0">
                <a:solidFill>
                  <a:srgbClr val="333333"/>
                </a:solidFill>
                <a:latin typeface="Calibri"/>
                <a:hlinkClick r:id="rId1"/>
              </a:rPr>
              <a:t>https://arxiv.org/abs/2501.11735</a:t>
            </a:r>
            <a:endParaRPr sz="1400" b="0" i="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This work.  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Same motivation — a classical NP-complete cost, encoded as a Hamiltonian, aimed at the same hybrid architecture — but the target is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4-SAT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.</a:t>
            </a:r>
            <a:endParaRPr sz="1400" b="0" i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338560" cy="47548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libri"/>
              </a:rPr>
              <a:t>Empirical support: quantum SAT solvers can still win</a:t>
            </a:r>
            <a:endParaRPr sz="2400" b="1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640080"/>
            <a:ext cx="11274552" cy="1371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11247120" cy="53035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Lu, Wei, Li, Gao, Yan, Zheng, Zhang, Zeng, Long, et al.  </a:t>
            </a:r>
            <a:endParaRPr sz="1400" b="1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000000"/>
                </a:solidFill>
                <a:latin typeface="Calibri"/>
              </a:rPr>
              <a:t>Evidence of scaling advantage on an NP-complete problem with enhanced quantum solvers.  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Nat. Comput. Sci. 6, 882–893 (2026).</a:t>
            </a:r>
            <a:endParaRPr sz="14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298448"/>
            <a:ext cx="11274552" cy="1353312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120700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000000"/>
                </a:solidFill>
                <a:latin typeface="Calibri"/>
              </a:rPr>
              <a:t>“Without complexity proofs, scaling advantage — where quantum resource requirements grow more slowly than their classical counterparts — is the primary indicator.”</a:t>
            </a:r>
            <a:endParaRPr sz="1500" b="0" i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They report empirical evidence of quantum speedup on an NP-complete SAT problem. That is the argument that a quantum machine can still be beneficial here.</a:t>
            </a:r>
            <a:endParaRPr sz="14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2779776"/>
            <a:ext cx="5532120" cy="3401568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871216"/>
            <a:ext cx="5239512" cy="3200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What they did</a:t>
            </a:r>
            <a:endParaRPr sz="1600" b="1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Target: one-in-three SAT, an NP-complete cousin of 3-SAT. Each clause is true iff exactly one of its three literals is true.</a:t>
            </a:r>
            <a:endParaRPr sz="1300" b="0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They built enhanced QAOA and QAA solvers, with a classical space-reduction step, and compared scaling to state-of-the-art classical SAT solvers.</a:t>
            </a:r>
            <a:endParaRPr sz="1300" b="0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A 13-qubit superconducting experiment solved instances with 22 variables and matched the predicted improvement.</a:t>
            </a:r>
            <a:endParaRPr sz="1300" b="0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Different SAT variant than our 4-SAT. Same moral: NP-complete SAT is a live target for new quantum algorithms.</a:t>
            </a:r>
            <a:endParaRPr sz="13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153912" y="2779776"/>
            <a:ext cx="5577840" cy="3401568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0216" y="2871216"/>
            <a:ext cx="5285232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Scaling at the critical ratio m/n = 0.626, n ≤ 70</a:t>
            </a:r>
            <a:endParaRPr sz="1500" b="1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Inverse success probability (quantum) vs. solver work (classical).</a:t>
            </a:r>
            <a:endParaRPr sz="1300" b="0" i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12" name="Picture 11" descr="scalin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0216" y="3511296"/>
            <a:ext cx="5212080" cy="13949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0216" y="4979422"/>
            <a:ext cx="5285232" cy="71323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Both enhanced quantum solvers beat 1.0128ⁿ from the best classical baselines they report.</a:t>
            </a:r>
            <a:endParaRPr sz="1300" b="0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309360"/>
            <a:ext cx="11247120" cy="38404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Calibri"/>
                <a:hlinkClick r:id="rId2"/>
              </a:rPr>
              <a:t>https://www.nature.com/articles/s43588-026-01007-8</a:t>
            </a:r>
            <a:endParaRPr sz="1200" b="0" i="0">
              <a:solidFill>
                <a:srgbClr val="333333"/>
              </a:solidFill>
              <a:latin typeface="Calibri"/>
              <a:hlinkClick r:id="rId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338560" cy="47548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libri"/>
              </a:rPr>
              <a:t>What 4-SAT is</a:t>
            </a:r>
            <a:endParaRPr sz="2400" b="1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640080"/>
            <a:ext cx="11274552" cy="1371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11247120" cy="65836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A 4-SAT instance is a Boolean formula in conjunctive normal form in which every clause has exactly four literals. A literal is a variable or its negation. The formula is satisfiable if some assignment in {0,1}ⁿ makes every clause true.</a:t>
            </a:r>
            <a:endParaRPr sz="1500" b="0" i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SAT was the first NP-complete problem (Cook–Levin). For every k ≥ 3, k-SAT stays NP-complete — 4-SAT included.</a:t>
            </a:r>
            <a:endParaRPr sz="1500" b="0" i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6" name="Picture 5" descr="sat_def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44752"/>
            <a:ext cx="6882434" cy="13324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868675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Running example: Hamiltonians/four_sat/four_sat_000  —  7 variables, 18 clauses, unique satisfying assignment.</a:t>
            </a:r>
            <a:endParaRPr sz="1500" b="1" i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8" name="Picture 7" descr="sat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52723"/>
            <a:ext cx="11155680" cy="2859770"/>
          </a:xfrm>
          <a:prstGeom prst="rect">
            <a:avLst/>
          </a:prstGeom>
        </p:spPr>
      </p:pic>
      <p:pic>
        <p:nvPicPr>
          <p:cNvPr id="9" name="Picture 8" descr="sat_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185646"/>
            <a:ext cx="11155680" cy="5914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338560" cy="47548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libri"/>
              </a:rPr>
              <a:t>From four_sat_000 to a spin Hamiltonian</a:t>
            </a:r>
            <a:endParaRPr sz="2400" b="1" i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640080"/>
            <a:ext cx="11274552" cy="1371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11247120" cy="43891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Three steps. Rewrite each clause as a 0/1 penalty, add the penalties, then replace every bit by a Pauli Z. We never write the fully expanded Hamiltonian.</a:t>
            </a:r>
            <a:endParaRPr sz="1500" b="0" i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6" name="Picture 5" descr="map_step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59205"/>
            <a:ext cx="7164070" cy="2390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722928"/>
            <a:ext cx="11247120" cy="29260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Worked example — the first two clauses of four_sat_000. Positive literal → (1 − x) → (I + Z)/2. Negated literal → x → (I − Z)/2.</a:t>
            </a:r>
            <a:endParaRPr sz="1400" b="1" i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8" name="Picture 7" descr="wo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997248"/>
            <a:ext cx="11155680" cy="15414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93567"/>
            <a:ext cx="11247120" cy="43891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Unique ground state of four_sat_000: 1010001, energy 0, gap 1. Full Pauli expansion: 35 Z-strings plus an identity shift — stored in the NPZ, not shown.</a:t>
            </a:r>
            <a:endParaRPr sz="1400" b="0" i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3659</Words>
  <Application>WPS 演示</Application>
  <PresentationFormat>On-screen Show (4:3)</PresentationFormat>
  <Paragraphs>57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7" baseType="lpstr">
      <vt:lpstr>Arial</vt:lpstr>
      <vt:lpstr>宋体</vt:lpstr>
      <vt:lpstr>Wingdings</vt:lpstr>
      <vt:lpstr>Arial</vt:lpstr>
      <vt:lpstr>Calibri</vt:lpstr>
      <vt:lpstr>Helvetica Neue</vt:lpstr>
      <vt:lpstr>微软雅黑</vt:lpstr>
      <vt:lpstr>方正雅意黑 GB18030L2</vt:lpstr>
      <vt:lpstr>汉仪书宋二KW</vt:lpstr>
      <vt:lpstr>宋体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WPS_1774232198</cp:lastModifiedBy>
  <cp:revision>3</cp:revision>
  <dcterms:created xsi:type="dcterms:W3CDTF">2026-09-10T08:55:09Z</dcterms:created>
  <dcterms:modified xsi:type="dcterms:W3CDTF">2026-09-10T08:55:09Z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458D48764E33A2556B70A26A7A6BE627_42</vt:lpwstr>
  </property>
</Properties>
</file>