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1.11735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nature.com/articles/s43588-026-01007-8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338560" cy="47548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The problems themselves are classical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12745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8404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0-1 knapsack and 4-SAT are ordinary combinatorial questions — and NP-complete. A quantum machine can still be the right solver.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70432"/>
            <a:ext cx="3611880" cy="29443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280160"/>
            <a:ext cx="3319272" cy="272491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Two textbook problems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0-1 knapsack.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Items with weights and values, a capacity. Can you pack value at least V without overflowing? (Or: pack as much value as possible.)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4-SAT.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A Boolean formula whose every clause is an OR of four literals. Does any 0/1 assignment make every clause true?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170432"/>
            <a:ext cx="3611880" cy="29443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9976" y="1280160"/>
            <a:ext cx="3319272" cy="272491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NP-complete, in plain words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NP: a proposed answer can be checked quickly (polynomial time).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NP-complete: the hardest problems in NP. Every other NP problem can be rewritten as one of them in polynomial time.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Easy to verify, believed hard to find. A fast algorithm for any one of them would give a fast algorithm for all of NP.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170432"/>
            <a:ext cx="3721608" cy="29443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280160"/>
            <a:ext cx="3429000" cy="272491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Why a quantum machine can still help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NP-completeness is a classical worst-case label. It does not forbid better typical-case scaling, or a more compact encoding on quantum hardware.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Turn the cost into a Hamiltonian. Variational and adiabatic algorithms search that landscape in superposition.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For SAT-type problems, that is already showing empirical scaling gains — next slide.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42816"/>
            <a:ext cx="11274552" cy="2267712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52544"/>
            <a:ext cx="10972800" cy="20116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Previous work chose knapsack. We choose 4-SAT.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Previous work.  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Dutta, Allen, Xu, et al., “Solving Constrained Optimization Problems Using Hybrid Qubit-Qumode Quantum Devices,” arXiv:2501.11735.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Binary knapsack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as a QUBO, solved with ECD-VQE on a hybrid qubit–qumode device.  </a:t>
            </a:r>
            <a:r>
              <a:rPr sz="1400" b="0" i="0">
                <a:solidFill>
                  <a:srgbClr val="333333"/>
                </a:solidFill>
                <a:latin typeface="Calibri"/>
                <a:hlinkClick r:id="rId2"/>
              </a:rPr>
              <a:t>https://arxiv.org/abs/2501.11735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This work.  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Same motivation — a classical NP-complete cost, encoded as a Hamiltonian, aimed at the same hybrid architecture — but the target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4-SAT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338560" cy="47548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Empirical support: quantum SAT solvers can still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12745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53035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Lu, Wei, Li, Gao, Yan, Zheng, Zhang, Zeng, Long, et al.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Evidence of scaling advantage on an NP-complete problem with enhanced quantum solvers.  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Nat. Comput. Sci. 6, 882–893 (2026).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11274552" cy="1353312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120700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00000"/>
                </a:solidFill>
                <a:latin typeface="Calibri"/>
              </a:rPr>
              <a:t>“Without complexity proofs, scaling advantage — where quantum resource requirements grow more slowly than their classical counterparts — is the primary indicator.”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They report empirical evidence of quantum speedup on an NP-complete SAT problem. That is the argument that a quantum machine can still be beneficial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79776"/>
            <a:ext cx="5532120" cy="34015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871216"/>
            <a:ext cx="5239512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What they did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Target: one-in-three SAT, an NP-complete cousin of 3-SAT. Each clause is true iff exactly one of its three literals is true.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They built enhanced QAOA and QAA solvers, with a classical space-reduction step, and compared scaling to state-of-the-art classical SAT solvers.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A 13-qubit superconducting experiment solved instances with 22 variables and matched the predicted improvement.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Different SAT variant than our 4-SAT. Same moral: NP-complete SAT is a live target for new quantum algorithms.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779776"/>
            <a:ext cx="5577840" cy="340156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2871216"/>
            <a:ext cx="5285232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Scaling at the critical ratio m/n = 0.626, n ≤ 70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Inverse success probability (quantum) vs. solver work (classical).</a:t>
            </a:r>
          </a:p>
        </p:txBody>
      </p:sp>
      <p:pic>
        <p:nvPicPr>
          <p:cNvPr id="12" name="Picture 11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3511296"/>
            <a:ext cx="5212080" cy="1394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0216" y="4979422"/>
            <a:ext cx="5285232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Both enhanced quantum solvers beat 1.0128ⁿ from the best classical baselines they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hlinkClick r:id="rId3"/>
              </a:rPr>
              <a:t>https://www.nature.com/articles/s43588-026-01007-8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338560" cy="47548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What 4-SAT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12745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A 4-SAT instance is a Boolean formula in conjunctive normal form in which every clause has exactly four literals. A literal is a variable or its negation. The formula is satisfiable if some assignment in {0,1}ⁿ makes every clause true.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SAT was the first NP-complete problem (Cook–Levin). For every k ≥ 3, k-SAT stays NP-complete — 4-SAT included.</a:t>
            </a:r>
          </a:p>
        </p:txBody>
      </p:sp>
      <p:pic>
        <p:nvPicPr>
          <p:cNvPr id="6" name="Picture 5" descr="sat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44752"/>
            <a:ext cx="6882434" cy="1332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868675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Running example: Hamiltonians/four_sat/four_sat_000  —  7 variables, 18 clauses, unique satisfying assignment.</a:t>
            </a:r>
          </a:p>
        </p:txBody>
      </p:sp>
      <p:pic>
        <p:nvPicPr>
          <p:cNvPr id="8" name="Picture 7" descr="sat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52723"/>
            <a:ext cx="11155680" cy="2859770"/>
          </a:xfrm>
          <a:prstGeom prst="rect">
            <a:avLst/>
          </a:prstGeom>
        </p:spPr>
      </p:pic>
      <p:pic>
        <p:nvPicPr>
          <p:cNvPr id="9" name="Picture 8" descr="sat_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185646"/>
            <a:ext cx="11155680" cy="5914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338560" cy="47548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From four_sat_000 to a spin Hamiltonian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12745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43891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Three steps. Rewrite each clause as a 0/1 penalty, add the penalties, then replace every bit by a Pauli Z. We never write the fully expanded Hamiltonian.</a:t>
            </a:r>
          </a:p>
        </p:txBody>
      </p:sp>
      <p:pic>
        <p:nvPicPr>
          <p:cNvPr id="6" name="Picture 5" descr="map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52144"/>
            <a:ext cx="7486700" cy="24976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722928"/>
            <a:ext cx="11247120" cy="29260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Worked example — the first two clauses of four_sat_000. Positive literal → (1 − x) → (I + Z)/2. Negated literal → x → (I − Z)/2.</a:t>
            </a:r>
          </a:p>
        </p:txBody>
      </p:sp>
      <p:pic>
        <p:nvPicPr>
          <p:cNvPr id="8" name="Picture 7" descr="wor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97248"/>
            <a:ext cx="11155680" cy="1541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93567"/>
            <a:ext cx="11247120" cy="43891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Unique ground state of four_sat_000: 1010001, energy 0, gap 1. Full Pauli expansion: 35 Z-strings plus an identity shift — stored in the NPZ, not shown.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