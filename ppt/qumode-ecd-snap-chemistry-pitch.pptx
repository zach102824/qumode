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1" r:id="rId9"/>
    <p:sldId id="262" r:id="rId10"/>
    <p:sldId id="263" r:id="rId11"/>
    <p:sldId id="265" r:id="rId12"/>
    <p:sldId id="266" r:id="rId13"/>
    <p:sldId id="268" r:id="rId14"/>
    <p:sldId id="270" r:id="rId15"/>
    <p:sldId id="269" r:id="rId16"/>
    <p:sldId id="267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88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17320"/>
            <a:ext cx="1219136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zh-CN"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研究题目</a:t>
            </a:r>
            <a:r>
              <a:rPr lang="en-US" altLang="zh-CN"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：</a:t>
            </a:r>
            <a:r>
              <a:rPr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基于</a:t>
            </a:r>
            <a:r>
              <a:rPr lang="en-US"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q</a:t>
            </a:r>
            <a:r>
              <a:rPr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umode</a:t>
            </a:r>
            <a:r>
              <a:rPr lang="zh-CN"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玻色子机器整体优化的量子化学基态算法</a:t>
            </a:r>
            <a:r>
              <a:rPr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（qumode VQ</a:t>
            </a:r>
            <a:r>
              <a:rPr lang="en-US"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A</a:t>
            </a:r>
            <a:r>
              <a:rPr sz="32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</a:t>
            </a:r>
            <a:endParaRPr sz="32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3063240"/>
            <a:ext cx="283464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29000"/>
            <a:ext cx="109728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zh-CN" sz="17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目标</a:t>
            </a:r>
            <a:r>
              <a:rPr sz="17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研究</a:t>
            </a:r>
            <a:r>
              <a:rPr lang="zh-CN" sz="17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成果</a:t>
            </a:r>
            <a:r>
              <a:rPr lang="en-US" altLang="zh-CN" sz="17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： </a:t>
            </a:r>
            <a:r>
              <a:rPr lang="zh-CN" altLang="en-US" sz="17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一篇</a:t>
            </a:r>
            <a:r>
              <a:rPr lang="en-US" altLang="zh-CN" sz="17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JCTC </a:t>
            </a:r>
            <a:endParaRPr sz="16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897880"/>
            <a:ext cx="109728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出发点（目前唯一的 qumode 电子结构工作）：Dutta et al., JCTC 2025 · Simulating electronic structure on bosonic quantum computers · arXiv:2404.10222</a:t>
            </a:r>
            <a:r>
              <a:rPr lang="en-US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 </a:t>
            </a:r>
            <a:br>
              <a:rPr lang="en-US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</a:br>
            <a:r>
              <a:rPr lang="zh-CN" altLang="en-US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其余均为研究震动化学或者</a:t>
            </a:r>
            <a:r>
              <a:rPr lang="en-US" altLang="zh-CN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bosonic Hubbard，</a:t>
            </a:r>
            <a:r>
              <a:rPr lang="zh-CN" altLang="en-US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可直接翻译到</a:t>
            </a:r>
            <a:r>
              <a:rPr lang="en-US" altLang="zh-CN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qumode</a:t>
            </a:r>
            <a:r>
              <a:rPr lang="zh-CN" altLang="en-US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机器</a:t>
            </a:r>
            <a:r>
              <a:rPr lang="en-US" altLang="zh-CN"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</a:t>
            </a:r>
            <a:endParaRPr lang="en-US" altLang="zh-CN" sz="13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现状：唯一的基线工作做了</a:t>
            </a: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什么</a:t>
            </a:r>
            <a:endParaRPr lang="zh-CN"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18120" y="475488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Dutta et al., JCTC 2025 (arXiv:2404.10222)</a:t>
            </a:r>
            <a:endParaRPr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54393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已有（按原文）</a:t>
            </a:r>
            <a:endParaRPr sz="17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编码：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H_elec —(Jordan–Wigner)→ H_Q = Σ_μ g_μ P_μ，再把 N_Q 比特的 Pauli 词嵌入 qumode Fock 空间，截断 L = 2^(N_Q)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映射：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每个 Pauli 词经典拟合成 qumode 电路 —— ECD 路线</a:t>
            </a:r>
            <a:r>
              <a:rPr 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：</a:t>
            </a:r>
            <a:r>
              <a:rPr 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若干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个酉算符的线性组合、深度 N_d；SNAP 路线：单个电路、深度 N_d</a:t>
            </a:r>
            <a:r>
              <a:rPr 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, SNAP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的经典拟合效果更好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测量：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Hadamard test 逐项测 Re⟨ψ|U_μ|ψ⟩，经典求和得 ⟨H⟩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 indent="0">
              <a:spcBef>
                <a:spcPts val="0"/>
              </a:spcBef>
              <a:spcAft>
                <a:spcPts val="700"/>
              </a:spcAft>
              <a:buFont typeface="Arial" panose="020B0604020202090204" pitchFamily="34" charset="0"/>
              <a:buNone/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• </a:t>
            </a:r>
            <a:r>
              <a:rPr lang="zh-CN" sz="1400" b="1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算法</a:t>
            </a: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：</a:t>
            </a:r>
            <a:r>
              <a:rPr lang="en-US" sz="14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ECD </a:t>
            </a:r>
            <a:r>
              <a:rPr lang="zh-CN" altLang="en-US" sz="14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或者</a:t>
            </a:r>
            <a:r>
              <a:rPr lang="en-US" altLang="zh-CN" sz="14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 SNAP+</a:t>
            </a:r>
            <a:r>
              <a:rPr lang="zh-CN" altLang="en-US" sz="14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位移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H₂ / STO-3G：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4 自旋轨道 → 4 比特 → 1 个 qumode（L=16</a:t>
            </a:r>
            <a:r>
              <a:rPr 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=2^4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）+ 2 个 transmon；制备深度 ECD D=9 vs SNAP D=4；测量酉算符 120 个 vs 14 个，两者都达化学精度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线性 H₄：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8 比特、185 个 Pauli 词 → 2 个 qumode（各 L=16</a:t>
            </a:r>
            <a:r>
              <a:rPr 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)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；SNAP-VQE（D=20）在强关联区打败 UCCSD-VQE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91672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结论：</a:t>
            </a:r>
            <a:r>
              <a:rPr lang="zh-CN"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每一步都有可考虑再优化的空间</a:t>
            </a:r>
            <a:r>
              <a:rPr lang="en-US" altLang="zh-CN"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下一部分具体</a:t>
            </a:r>
            <a:r>
              <a:rPr lang="zh-CN" altLang="en-US"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展示</a:t>
            </a:r>
            <a:endParaRPr lang="zh-CN" altLang="en-US"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72835" y="3060700"/>
            <a:ext cx="50412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ECD ansatz structure is shown in Eq.9 </a:t>
            </a:r>
            <a:endParaRPr lang="en-US" altLang="zh-CN" sz="1400"/>
          </a:p>
          <a:p>
            <a:r>
              <a:rPr lang="en-US" altLang="zh-CN" sz="1400"/>
              <a:t>SNAP ansatz structure is shown in Eq. 31 </a:t>
            </a:r>
            <a:endParaRPr lang="en-US" alt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5905"/>
            <a:ext cx="972883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我们的提案：整体优化 qumode VQE</a:t>
            </a:r>
            <a:r>
              <a:rPr lang="en-US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</a:t>
            </a: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后含噪</a:t>
            </a: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评估</a:t>
            </a:r>
            <a:endParaRPr lang="zh-CN"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对「化学基 → 初始化 → ansatz → 噪声评估」四个环节</a:t>
            </a:r>
            <a:r>
              <a:rPr 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都进行</a:t>
            </a: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优化，并用</a:t>
            </a:r>
            <a:r>
              <a:rPr 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不同分子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氢链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水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，CO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等不同有代表性的化学分子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</a:t>
            </a: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量化每一环的收益。</a:t>
            </a:r>
            <a:endParaRPr sz="15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005" y="2527935"/>
            <a:ext cx="2697480" cy="273875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① 选化学基（编码层）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1. </a:t>
            </a: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轨道旋转 U</a:t>
            </a:r>
            <a:r>
              <a:rPr sz="125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（正则 / 局域化 / 自然轨道）</a:t>
            </a: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是免费自由度：换基不改物理，但改变 Pauli 结构</a:t>
            </a:r>
            <a:endParaRPr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lang="en-US"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2. 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参考之前跨芯片的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JKMN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树编码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，Jordan-Wigner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仅为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z string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的特例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可选的编码方式也应被考虑</a:t>
            </a:r>
            <a:b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</a:br>
            <a:b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</a:b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结合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1.2. 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找出综合最优的基以致</a:t>
            </a:r>
            <a:r>
              <a:rPr sz="125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 </a:t>
            </a:r>
            <a:r>
              <a:rPr lang="zh-CN" sz="125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最大程度减少</a:t>
            </a:r>
            <a:r>
              <a:rPr sz="125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qumode </a:t>
            </a:r>
            <a:r>
              <a:rPr lang="en-US" sz="125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（ECD+SNAP）</a:t>
            </a:r>
            <a:r>
              <a:rPr sz="125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电路深度。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非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仅有单一种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门</a:t>
            </a:r>
            <a:endParaRPr lang="zh-CN" altLang="en-US"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10077" y="2527935"/>
            <a:ext cx="2697480" cy="149225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② 参数初始化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原文参数全随机</a:t>
            </a:r>
            <a:r>
              <a:rPr 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因无经典理论如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CCSD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可借鉴</a:t>
            </a: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。系统变大后随机初始化还可靠吗？借鉴逐层生长、几何退火、热启动等策略，给出</a:t>
            </a:r>
            <a:r>
              <a:rPr 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最佳</a:t>
            </a: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的初始化配方。</a:t>
            </a:r>
            <a:endParaRPr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72149" y="2527935"/>
            <a:ext cx="2697480" cy="228600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③ ECD+SNAP 混合 ansatz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0000"/>
                </a:solidFill>
                <a:latin typeface="Calibri"/>
                <a:ea typeface="PingFang SC" panose="020B0400000000000000" charset="-122"/>
              </a:rPr>
              <a:t>核心方向</a:t>
            </a: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。ECD 负责“搬运布居”（类 Givens 旋转），SNAP 负责“逐 Fock 态加相位”（类 RZZ）。交替叠加，期望更浅的电路达到同等表达力。</a:t>
            </a:r>
            <a:endParaRPr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34221" y="2527935"/>
            <a:ext cx="2697480" cy="253111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④ 含噪声 qutip 模拟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原文全部无噪。</a:t>
            </a:r>
            <a:r>
              <a:rPr 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我们可以与实验合作打造更真实的利用</a:t>
            </a: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qutip 噪声管线（光子损耗 / Lindblad / T1T2 / 控制误差）回答：哪种 ansatz 在真实 cQED 参数下最</a:t>
            </a:r>
            <a:r>
              <a:rPr 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好</a:t>
            </a:r>
            <a:r>
              <a:rPr 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最大程度还原</a:t>
            </a:r>
            <a:r>
              <a:rPr lang="zh-CN" altLang="en-US" sz="1250" b="1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制备过程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在真实开销下的实用性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暂时不考虑</a:t>
            </a:r>
            <a:r>
              <a:rPr lang="zh-CN" altLang="en-US" sz="1250" b="0" i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测量过程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</a:t>
            </a:r>
            <a:endParaRPr lang="en-US" altLang="zh-CN"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高光子态不稳定</a:t>
            </a:r>
            <a:r>
              <a:rPr lang="en-US" altLang="zh-CN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同时考虑加入到算法</a:t>
            </a:r>
            <a:r>
              <a:rPr lang="zh-CN" altLang="en-US"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设计</a:t>
            </a:r>
            <a:endParaRPr lang="zh-CN" altLang="en-US"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方向① 选化学基：让哈密顿量更适合 SNAP/ECD</a:t>
            </a:r>
            <a:endParaRPr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214884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问题</a:t>
            </a:r>
            <a:endParaRPr sz="1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原文直接用正则 HF 分子轨道（H₂ 即 σ_g / σ_u）。但轨道基是一个完全免费的幺正自由度：换基不改变物理谱，却剧烈改变 H_Q 的 Pauli 词数量、系数分布，进而改变 qumode 电路的拟合深度与测量成本。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候选基：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正则 HF 轨道 ／ 局域化轨道（Edmiston–Ruedenberg 等）／ 自然轨道 ／ 数值优化的任意旋转 U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5486400" cy="132270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公式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原子基 → 分子轨道：  φ_p = Σ_μ C_μp · χ_μ</a:t>
            </a:r>
            <a:endParaRPr sz="15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轨道旋转（待优化）：  φ̃_p = Σ_q U_qp · φ_q ，  U†U = I</a:t>
            </a:r>
            <a:endParaRPr sz="15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000000"/>
                </a:solidFill>
                <a:latin typeface="PingFang SC Semibold" panose="020B0400000000000000" charset="-122"/>
                <a:ea typeface="PingFang SC Semibold" panose="020B0400000000000000" charset="-122"/>
                <a:cs typeface="+mn-lt"/>
              </a:rPr>
              <a:t>开销</a:t>
            </a:r>
            <a:r>
              <a:rPr sz="1500" b="0">
                <a:solidFill>
                  <a:srgbClr val="000000"/>
                </a:solidFill>
                <a:ea typeface="PingFang SC" panose="020B0400000000000000" charset="-122"/>
                <a:cs typeface="+mn-lt"/>
              </a:rPr>
              <a:t>：SNAP/ECD 拟合深度 N_d；Hadamard test 酉算符个数</a:t>
            </a:r>
            <a:endParaRPr sz="1500" b="0">
              <a:solidFill>
                <a:srgbClr val="000000"/>
              </a:solidFill>
              <a:ea typeface="PingFang SC" panose="020B0400000000000000" charset="-122"/>
              <a:cs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0" y="897890"/>
            <a:ext cx="5422392" cy="167449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</a:t>
            </a:r>
            <a:r>
              <a:rPr sz="1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文献启发）</a:t>
            </a:r>
            <a:endParaRPr sz="1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Classical reservoir 方法（He, Zgid, Kemper, Freericks, arXiv:2512.21069）用局域化轨道替代正则 HF 轨道，在氢链、N₂、H₂O 等体系上以显著更浅的电路达到化学精度 —— </a:t>
            </a:r>
            <a:r>
              <a:rPr 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展现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“换基”能省电路。</a:t>
            </a:r>
            <a:r>
              <a:rPr 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但是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qubit based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策略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这样目的是避免长距离作用的门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尽可能相邻作用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而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qumode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不区分单比特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双比特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门</a:t>
            </a:r>
            <a:endParaRPr lang="zh-CN" altLang="en-US"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17920" y="2647315"/>
            <a:ext cx="40640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 b="1">
                <a:ea typeface="+mn-lt"/>
              </a:rPr>
              <a:t>费米子到玻色子翻译策略也一并考虑</a:t>
            </a:r>
            <a:endParaRPr lang="zh-CN" altLang="en-US" sz="1500" b="1">
              <a:ea typeface="+mn-lt"/>
            </a:endParaRPr>
          </a:p>
        </p:txBody>
      </p:sp>
      <p:pic>
        <p:nvPicPr>
          <p:cNvPr id="8" name="图片 7" descr="Screenshot 2026-09-02 at 11.09.3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7060" y="3329940"/>
            <a:ext cx="3943985" cy="32600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84555" y="5531485"/>
            <a:ext cx="4295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ea typeface="+mn-lt"/>
              </a:rPr>
              <a:t>思路</a:t>
            </a:r>
            <a:r>
              <a:rPr lang="en-US" altLang="zh-CN" sz="1200">
                <a:ea typeface="+mn-lt"/>
              </a:rPr>
              <a:t>：</a:t>
            </a:r>
            <a:r>
              <a:rPr lang="zh-CN" altLang="en-US" sz="1200">
                <a:ea typeface="+mn-lt"/>
              </a:rPr>
              <a:t>非优化单独每个</a:t>
            </a:r>
            <a:r>
              <a:rPr lang="en-US" altLang="zh-CN" sz="1200">
                <a:ea typeface="+mn-lt"/>
              </a:rPr>
              <a:t>pauli word，</a:t>
            </a:r>
            <a:r>
              <a:rPr lang="zh-CN" altLang="en-US" sz="1200">
                <a:ea typeface="+mn-lt"/>
              </a:rPr>
              <a:t>考虑全部</a:t>
            </a:r>
            <a:r>
              <a:rPr lang="en-US" altLang="zh-CN" sz="1200">
                <a:ea typeface="+mn-lt"/>
              </a:rPr>
              <a:t> pauli words</a:t>
            </a:r>
            <a:r>
              <a:rPr lang="zh-CN" altLang="en-US" sz="1200">
                <a:ea typeface="+mn-lt"/>
              </a:rPr>
              <a:t>优化</a:t>
            </a:r>
            <a:r>
              <a:rPr lang="en-US" altLang="zh-CN" sz="1200">
                <a:ea typeface="+mn-lt"/>
              </a:rPr>
              <a:t>，</a:t>
            </a:r>
            <a:r>
              <a:rPr lang="zh-CN" altLang="en-US" sz="1200">
                <a:ea typeface="+mn-lt"/>
              </a:rPr>
              <a:t>找到对应的数学结构</a:t>
            </a:r>
            <a:r>
              <a:rPr lang="en-US" altLang="zh-CN" sz="1200">
                <a:ea typeface="+mn-lt"/>
              </a:rPr>
              <a:t>，</a:t>
            </a:r>
            <a:r>
              <a:rPr lang="zh-CN" altLang="en-US" sz="1200">
                <a:ea typeface="+mn-lt"/>
              </a:rPr>
              <a:t>猜想如</a:t>
            </a:r>
            <a:r>
              <a:rPr lang="en-US" altLang="zh-CN" sz="1200">
                <a:ea typeface="+mn-lt"/>
              </a:rPr>
              <a:t>：</a:t>
            </a:r>
            <a:r>
              <a:rPr lang="zh-CN" altLang="en-US" sz="1200">
                <a:ea typeface="+mn-lt"/>
              </a:rPr>
              <a:t>某一单一比特上尽可能都为</a:t>
            </a:r>
            <a:r>
              <a:rPr lang="en-US" altLang="zh-CN" sz="1200">
                <a:ea typeface="+mn-lt"/>
              </a:rPr>
              <a:t>Z</a:t>
            </a:r>
            <a:r>
              <a:rPr lang="zh-CN" altLang="en-US" sz="1200">
                <a:ea typeface="+mn-lt"/>
              </a:rPr>
              <a:t>或</a:t>
            </a:r>
            <a:r>
              <a:rPr lang="en-US" altLang="zh-CN" sz="1200">
                <a:ea typeface="+mn-lt"/>
              </a:rPr>
              <a:t>Y</a:t>
            </a:r>
            <a:r>
              <a:rPr lang="zh-CN" altLang="en-US" sz="1200">
                <a:ea typeface="+mn-lt"/>
              </a:rPr>
              <a:t>或</a:t>
            </a:r>
            <a:r>
              <a:rPr lang="en-US" altLang="zh-CN" sz="1200">
                <a:ea typeface="+mn-lt"/>
              </a:rPr>
              <a:t>X，</a:t>
            </a:r>
            <a:r>
              <a:rPr lang="zh-CN" altLang="en-US" sz="1200">
                <a:ea typeface="+mn-lt"/>
              </a:rPr>
              <a:t>如无也可以利用目标函数</a:t>
            </a:r>
            <a:r>
              <a:rPr lang="zh-CN" altLang="en-US" sz="1200">
                <a:ea typeface="+mn-lt"/>
              </a:rPr>
              <a:t>做数值</a:t>
            </a:r>
            <a:r>
              <a:rPr lang="zh-CN" altLang="en-US" sz="1200">
                <a:ea typeface="+mn-lt"/>
              </a:rPr>
              <a:t>优化</a:t>
            </a:r>
            <a:endParaRPr lang="zh-CN" altLang="en-US" sz="1200">
              <a:ea typeface="+mn-lt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2814320" y="5026025"/>
            <a:ext cx="0" cy="428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方向② 参数初始化：随机初值可靠吗？</a:t>
            </a:r>
            <a:endParaRPr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577840" cy="160020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现状</a:t>
            </a:r>
            <a:endParaRPr sz="1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原文与其配套代码把 ansatz 参数直接随机抽取（如 |β|~U(0,3)，角度~U(0,π)），初态取真空。文中未报告对初值的敏感性；系统规模增大后这种做法是否可训练，完全未知（并与 barren plateau 风险直接挂钩）。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5000" y="2886075"/>
            <a:ext cx="5577840" cy="91249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</a:t>
            </a:r>
            <a:r>
              <a:rPr sz="14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借鉴 reservoir 论文附录的做法）</a:t>
            </a:r>
            <a:endParaRPr sz="145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逐层生长：浅层收敛后加层，新参数加小噪声 [−0.01, 0.01]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几何退火：沿键长正反两遍扫描，相邻几何热启动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pic>
        <p:nvPicPr>
          <p:cNvPr id="5" name="图片 4" descr="Screenshot 2026-09-02 at 11.32.0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460" y="4686935"/>
            <a:ext cx="6605905" cy="21551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40840" y="5274310"/>
            <a:ext cx="43338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/>
              <a:t>好的初始化策略可以</a:t>
            </a:r>
            <a:r>
              <a:rPr lang="zh-CN" altLang="en-US"/>
              <a:t>十分影响优化结果</a:t>
            </a:r>
            <a:endParaRPr lang="en-US" altLang="zh-CN"/>
          </a:p>
          <a:p>
            <a:pPr algn="r"/>
            <a:r>
              <a:rPr lang="zh-CN" altLang="en-US"/>
              <a:t>参考</a:t>
            </a:r>
            <a:r>
              <a:rPr lang="en-US" altLang="zh-CN"/>
              <a:t>：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方向③（</a:t>
            </a:r>
            <a:r>
              <a:rPr sz="2600" b="1">
                <a:solidFill>
                  <a:srgbClr val="FF0000"/>
                </a:solidFill>
                <a:latin typeface="Calibri"/>
                <a:ea typeface="PingFang SC" panose="020B0400000000000000" charset="-122"/>
              </a:rPr>
              <a:t>核心</a:t>
            </a: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）ECD+SNAP 混合：</a:t>
            </a:r>
            <a:endParaRPr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806440" cy="301752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两族原生门（cQED 硬件的母语）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位移门：  D(β) = exp( β·b† − β*·b )</a:t>
            </a:r>
            <a:endParaRPr sz="15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ECD 门（回声条件位移）：</a:t>
            </a:r>
            <a:endParaRPr sz="145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ECD(β) = |1⟩⟨0| ⊗ D(β/2) + |0⟩⟨1| ⊗ D(−β/2)</a:t>
            </a:r>
            <a:endParaRPr sz="15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配比特旋转 R(θ,φ) = exp[−i(θ/2)(X·cosφ + Y·sinφ)]，一层 = ECD(β)·[I⊗R(θ,φ)]</a:t>
            </a:r>
            <a:endParaRPr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SNAP 门（选数相位）：</a:t>
            </a:r>
            <a:endParaRPr sz="145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S(θ⃗) = Σ_n exp(iθ_n) |n⟩⟨n| ，  n = 0 … L−1</a:t>
            </a:r>
            <a:endParaRPr sz="15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配位移门，一层 = S(θ⃗)·D(α)；对每个 Fock 态独立加相位</a:t>
            </a:r>
            <a:endParaRPr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37960" y="1097280"/>
            <a:ext cx="5102352" cy="244665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设计直觉：ECD 搬运，SNAP 加相位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ECD ≈ Givens 旋转：</a:t>
            </a: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条件位移在 Fock 空间搬运布居、注入能量、产生比特–模纠缠（负责“hopping”）。</a:t>
            </a:r>
            <a:r>
              <a:rPr lang="zh-CN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但是位移的大小服从</a:t>
            </a:r>
            <a:r>
              <a:rPr lang="zh-CN" altLang="en-US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泊松分布</a:t>
            </a:r>
            <a:r>
              <a:rPr lang="en-US" altLang="zh-CN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高低光子位移程度不同</a:t>
            </a:r>
            <a:r>
              <a:rPr lang="en-US" altLang="zh-CN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需考虑设计</a:t>
            </a:r>
            <a:r>
              <a:rPr lang="zh-CN" altLang="en-US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算法</a:t>
            </a:r>
            <a:endParaRPr lang="zh-CN" altLang="en-US"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SNAP ≈ RZZ / Z 相位层：</a:t>
            </a: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Fock 基对角、逐基矢附相位</a:t>
            </a:r>
            <a:r>
              <a:rPr lang="en-US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表达性十分高</a:t>
            </a:r>
            <a:r>
              <a:rPr lang="en-US" altLang="zh-CN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尽可能只用很少数达到所需效果</a:t>
            </a: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（负责“干涉”）。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交替「搬运 + 相位」是 classical reservoir 电路（Givens 层 + ZZ 相位层交替，arXiv:2512.21069）在 qumode 上的对应物 —— 该结构已在氢链等体系用更少门达到化学精度。</a:t>
            </a:r>
            <a:endParaRPr sz="12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5305" y="3429000"/>
            <a:ext cx="11091545" cy="215836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为什么期望混合更省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1. 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原文数据</a:t>
            </a:r>
            <a:r>
              <a:rPr 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启发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互补：同是 H₂，SNAP 制备深度 D=4、测量 14 项；ECD 深度 D=9、测量 120 项 —— SNAP 表达力强但硬件苛刻，ECD 硬件宽松但电路冗长。</a:t>
            </a:r>
            <a:r>
              <a:rPr 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思路可以为利用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ECD, 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减低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SNAP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使用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, 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达到更低开销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。 </a:t>
            </a:r>
            <a:endParaRPr lang="en-US" altLang="zh-CN"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endParaRPr lang="en-US" altLang="zh-CN"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2.</a:t>
            </a:r>
            <a:endParaRPr lang="en-US" altLang="zh-CN"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pic>
        <p:nvPicPr>
          <p:cNvPr id="8" name="图片 7" descr="Screenshot 2026-09-02 at 11.58.0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830" y="4303395"/>
            <a:ext cx="704215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方向③（</a:t>
            </a:r>
            <a:r>
              <a:rPr sz="2600" b="1">
                <a:solidFill>
                  <a:srgbClr val="FF0000"/>
                </a:solidFill>
                <a:latin typeface="Calibri"/>
                <a:ea typeface="PingFang SC" panose="020B0400000000000000" charset="-122"/>
              </a:rPr>
              <a:t>核心</a:t>
            </a: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）ECD+SNAP 混合</a:t>
            </a:r>
            <a:r>
              <a:rPr lang="en-US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H2</a:t>
            </a:r>
            <a:r>
              <a:rPr lang="zh-CN" altLang="en-US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数据</a:t>
            </a:r>
            <a:endParaRPr lang="zh-CN" altLang="en-US"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图片 6" descr="Screenshot 2026-09-02 at 2.32.11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180" y="1057275"/>
            <a:ext cx="8799830" cy="4127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16560" y="56305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SNAP</a:t>
            </a:r>
            <a:r>
              <a:rPr lang="zh-CN" altLang="en-US"/>
              <a:t>门</a:t>
            </a:r>
            <a:r>
              <a:rPr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制备深度 D=4</a:t>
            </a:r>
            <a:r>
              <a:rPr lang="en-US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到</a:t>
            </a:r>
            <a:r>
              <a:rPr lang="en-US" altLang="zh-CN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 D=2 </a:t>
            </a:r>
            <a:endParaRPr lang="en-US" altLang="zh-CN">
              <a:solidFill>
                <a:srgbClr val="000000"/>
              </a:solidFill>
              <a:latin typeface="Calibri"/>
              <a:ea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5905"/>
            <a:ext cx="1203134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方向③ 续：为何</a:t>
            </a: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历史上</a:t>
            </a: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以前分开，为何可行</a:t>
            </a:r>
            <a:r>
              <a:rPr lang="en-US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</a:t>
            </a:r>
            <a:r>
              <a:rPr lang="zh-CN" altLang="en-US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偏实验角度</a:t>
            </a:r>
            <a:r>
              <a:rPr lang="en-US" alt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不一定加入文章</a:t>
            </a:r>
            <a:r>
              <a:rPr lang="en-US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</a:t>
            </a:r>
            <a:endParaRPr lang="en-US"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329184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历史上分开的三个原因（文献调研结论）</a:t>
            </a:r>
            <a:endParaRPr sz="1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1. 各自已被证明普适，没有理论压力去混合：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{SNAP, D} 普适（Krastanov et al., PRA 2015）；{ECD, R} 普适（Eickbusch et al., Nat. Phys. 2022）。两套编译器、两个社区。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2. 诞生于相反的硬件区间：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SNAP 生于强色散（Heeres 2015：χ/2π ≈ 8.3 MHz，选择性脉冲 Ω ≪ χ）；ECD 生于弱色散高相干腔（Eickbusch 2022：χ/2π ≈ 33 kHz，非选择性脉冲 + 大位移 α₀ ~ 30）。同一块固定 χ 的芯片上，一族自然、另一族别扭。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3. 应用场景不同：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SNAP 社区做 Fock 相位控制 / 玻色编码；ECD 社区做相空间控制 / GKP。bosonic VQE 原样继承了这条分界线。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22392" cy="262953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关键硬件论点：混合的代价是不对称的</a:t>
            </a:r>
            <a:endParaRPr sz="155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在 SNAP 级强 χ 设备（χ/2π ~ 0.5–3 MHz，现代常见）上加 ECD</a:t>
            </a:r>
            <a:r>
              <a:rPr lang="en-US"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</a:t>
            </a:r>
            <a:r>
              <a:rPr lang="zh-CN" altLang="en-US"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理论上不冲突</a:t>
            </a:r>
            <a:r>
              <a:rPr lang="en-US" altLang="zh-CN"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（</a:t>
            </a:r>
            <a:r>
              <a:rPr lang="zh-CN" altLang="en-US"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与胡老师确认机器细节</a:t>
            </a:r>
            <a:r>
              <a:rPr lang="en-US" altLang="zh-CN"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，</a:t>
            </a:r>
            <a:r>
              <a:rPr lang="zh-CN" altLang="en-US"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学习</a:t>
            </a:r>
            <a:r>
              <a:rPr lang="en-US" altLang="zh-CN"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）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反过来不行：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弱 χ 的 ECD 设备做 SNAP 需要几十至上百 μs，超出相干时间。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真实代价是时长而非切换：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SNAP 一层 ≈ 5–10 倍 ECD 一层的时长 → 每层退相干预算不均衡，这正是消融实验要量化的量。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趋势佐证：混合振子–比特指令集（arXiv:2407.10381）已把两族门并列为同一 ISA 的指令。</a:t>
            </a:r>
            <a:endParaRPr sz="13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91672" cy="67691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SNAP 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与 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ECD 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并非物理上互斥；它们都是利用 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transmon–cavity dispersive coupling </a:t>
            </a:r>
            <a:r>
              <a:rPr sz="15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χ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的不同控制策略。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SNAP 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受益于较大的</a:t>
            </a:r>
            <a:r>
              <a:rPr sz="15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χ</a:t>
            </a:r>
            <a:r>
              <a:rPr lang="en-US" sz="15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 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以实现 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photon-number selectivity，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而 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ECD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适合弱</a:t>
            </a:r>
            <a:r>
              <a:rPr lang="en-US" altLang="zh-CN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</a:t>
            </a:r>
            <a:r>
              <a:rPr sz="1500">
                <a:solidFill>
                  <a:srgbClr val="000000"/>
                </a:solidFill>
                <a:latin typeface="Calibri"/>
                <a:ea typeface="PingFang SC" panose="020B0400000000000000" charset="-122"/>
                <a:sym typeface="+mn-ea"/>
              </a:rPr>
              <a:t>χ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平台以减少</a:t>
            </a:r>
            <a:r>
              <a:rPr lang="zh-CN" altLang="en-US" sz="15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串流。</a:t>
            </a:r>
            <a:endParaRPr lang="zh-CN" altLang="en-US" sz="15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方向④ 含噪声</a:t>
            </a: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制备过程的</a:t>
            </a: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模拟：原文</a:t>
            </a: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未</a:t>
            </a: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实现</a:t>
            </a:r>
            <a:endParaRPr lang="zh-CN"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123444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原文原话（结论段）：</a:t>
            </a:r>
            <a:endParaRPr sz="14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“We leave the exploration of the effects of noise on our qumode approaches to future work.”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5486400" cy="143065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我们已有的噪声管线（</a:t>
            </a:r>
            <a:r>
              <a:rPr lang="zh-CN" sz="14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通过</a:t>
            </a:r>
            <a:r>
              <a:rPr sz="145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qutip 实现）</a:t>
            </a:r>
            <a:endParaRPr sz="145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光子损耗：论文式 Kraus（κτ ≈ 0.003）或 Lindblad 通道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Lindblad 统一模型：热激发 + 腔退相 + transmon T1/T2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相干控制误差：β、θ 的幅度/相位偏差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已在约束优化复现中跑通（含 κ 扫描与直方图对比）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422392" cy="249491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zh-CN" sz="1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量化结果</a:t>
            </a:r>
            <a:endParaRPr sz="1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1. </a:t>
            </a:r>
            <a:r>
              <a:rPr lang="zh-CN"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不同分子</a:t>
            </a:r>
            <a:r>
              <a:rPr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在真实硬件参数（χ、T1、T2、κ）下的误差预算表：每个环节</a:t>
            </a:r>
            <a:r>
              <a:rPr lang="zh-CN"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的错误</a:t>
            </a:r>
            <a:r>
              <a:rPr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。</a:t>
            </a:r>
            <a:endParaRPr sz="14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2. 「ansatz × 噪声通道」矩阵图：横轴噪声强度，纵轴能量误差，三种 ansatz 三条线 </a:t>
            </a:r>
            <a:r>
              <a:rPr lang="en-US"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 </a:t>
            </a:r>
            <a:endParaRPr sz="14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3. 若混合 ansatz 更浅的优势能折算成更短的总时长，就能把“混合更好”从模拟结论升级成硬件论断 —— 这是通向真实实验合作的敲门砖。</a:t>
            </a:r>
            <a:endParaRPr sz="14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相关工作（1/2）：化学与算法</a:t>
            </a:r>
            <a:endParaRPr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8440" y="1097280"/>
          <a:ext cx="11394440" cy="488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945"/>
                <a:gridCol w="4897120"/>
                <a:gridCol w="4143375"/>
              </a:tblGrid>
              <a:tr h="65341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名称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altLang="en-US" sz="1300" b="1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内容</a:t>
                      </a:r>
                      <a:endParaRPr lang="zh-CN" altLang="en-US" sz="1300" b="1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300" b="1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引用</a:t>
                      </a:r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 </a:t>
                      </a:r>
                      <a:endParaRPr lang="zh-CN" altLang="en-US" sz="1300" b="1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Dutta et al. 2404.10222 · JCTC 2025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玻色机电子结构 VQE：JWT→Fock，H₂ 与线性 H₄，ECD 与 SNAP 两套 ansatz 分开跑。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baseline。混合门、换基、初始化、噪声全是留白。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Dutta et al. 2501.11735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同团队：混合 qubit-qumode 设备解约束优化（背包），ECD-VQE 对照 QAOA。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 lang="zh-CN"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Dutta review 2404.10214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bosonic 设备量子化学综述：振动、电子、映射与门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Dutta QSS-VQE 2509.04727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激发态 QSS-VQE，门集为 SNAP+位移。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wrap="square"/>
                    <a:lstStyle/>
                    <a:p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  <a:sym typeface="+mn-ea"/>
                        </a:rPr>
                        <a:t>Athanasakos et al.  2606.05297               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  <a:sym typeface="+mn-ea"/>
                        </a:rPr>
                        <a:t>ADAPT VQE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  <a:sym typeface="+mn-ea"/>
                        </a:rPr>
                        <a:t>用在玻色子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  <a:sym typeface="+mn-ea"/>
                        </a:rPr>
                        <a:t>hubbard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  <a:sym typeface="+mn-ea"/>
                        </a:rPr>
                        <a:t>模型上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  <a:sym typeface="+mn-ea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有相关的从</a:t>
                      </a:r>
                      <a:r>
                        <a:rPr lang="en-US" altLang="zh-CN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qubit based</a:t>
                      </a:r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转移到</a:t>
                      </a:r>
                      <a:r>
                        <a:rPr lang="en-US" altLang="zh-CN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qumode</a:t>
                      </a:r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的</a:t>
                      </a:r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例子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Huh et al. 1412.8427；Wang et al. 1908.03598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  <a:p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  <a:p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  <a:p>
                      <a:r>
                        <a:rPr lang="en-US" altLang="zh-CN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      </a:t>
                      </a:r>
                      <a:endParaRPr lang="en-US" altLang="zh-CN"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振动玻色采样；cQED 腔上的振动模拟实验。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qumode 做</a:t>
                      </a:r>
                      <a:r>
                        <a:rPr lang="zh-CN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震动器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化学的</a:t>
                      </a:r>
                      <a:r>
                        <a:rPr lang="zh-CN"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文献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；非电子结构基态竞争者。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相关工作（2/2）：门、编译与优化地形</a:t>
            </a:r>
            <a:endParaRPr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1106424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  <a:gridCol w="4023360"/>
              </a:tblGrid>
              <a:tr h="54178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名称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一句话成果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我们怎么用 / 缺口</a:t>
                      </a:r>
                      <a:endParaRPr sz="1300" b="1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7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Heeres et al. 1503.01496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SNAP 门实验实现与定义（强色散 χ/2π ≈ 8.3 MHz，~1 μs）。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SNAP 定义出处；SNAP-only / Hybrid 从这里出发。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7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Krastanov et al. 1502.08015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{SNAP, 位移} 对截断谐振子普适。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混合门集合法性的理论支柱之一；普适 ≠ 现成化学 ansatz。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7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Eickbusch et al. 2111.06414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ECD 门实验与定义（弱色散 χ/2π ≈ 33 kHz）；补充材料证明 ECD 在任意 χ 下可行（χT&lt;2π）。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另一族 native 门；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7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Fösel et al. 2004.14256；Job 2307.11900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更短 SNAP 序列；SNAP+位移到可执行玻色电路的编译。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编译与脉冲层可借鉴；简化编码能否缩短编译是开放问题。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7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Zhang &amp; Zhuang 2305.01799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ECD 电路能量依赖 barren plateau：梯度方差 ~ 1/E^(Mν)（浅层 ν=1，深层 ν=2）。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兜底论文的理论钩子；只覆盖 ECD + 比特旋转参数 + 态制备 cost。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7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Lu et al. 2603.09233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条件高斯门集（ECD+旋转）可经典模拟。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量子优势必须来自 SNAP 非高斯性 → 直接抬高方向③的价值。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17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arXiv 2309.14942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SNAP+位移单 qudit 可训练性分析。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  <a:ea typeface="PingFang SC" panose="020B0400000000000000" charset="-122"/>
                        </a:rPr>
                        <a:t>多模 SNAP / 混合电路的可训练性仍是空白。</a:t>
                      </a:r>
                      <a:endParaRPr sz="1200" b="0">
                        <a:solidFill>
                          <a:srgbClr val="000000"/>
                        </a:solidFill>
                        <a:latin typeface="Calibri"/>
                        <a:ea typeface="PingFang SC" panose="020B0400000000000000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22376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最差</a:t>
            </a:r>
            <a:r>
              <a:rPr sz="2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方案：讲清 SNAP/ECD 的优化地形</a:t>
            </a:r>
            <a:endParaRPr sz="2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09167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105156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原文原话：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“An important aspect of the qumode gates we have explored here would be understanding their optimization landscape for VQE, which we leave for future development.”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486400" cy="2082165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已知的理论边界</a:t>
            </a:r>
            <a:endParaRPr sz="16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Zhang &amp; Zhuang（arXiv:2305.01799）：</a:t>
            </a:r>
            <a:r>
              <a:rPr 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只有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ECD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的</a:t>
            </a:r>
            <a:r>
              <a:rPr lang="en-US" alt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qubit</a:t>
            </a:r>
            <a:r>
              <a:rPr lang="zh-CN" altLang="en-US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被研究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—— ECD 电路梯度方差 ~ 1/E^(Mν)，E 为电路典型能量、M 为模数（浅层 ν=1，深层 ν=2）。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但只覆盖：ECD 门族</a:t>
            </a:r>
            <a:r>
              <a:rPr lang="zh-CN"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的</a:t>
            </a: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比特旋转参数的梯度、态制备型 cost。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SNAP 侧仅有单 qudit 结果（arXiv:2309.14942），无多模、无混合电路。</a:t>
            </a:r>
            <a:endParaRPr sz="140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0" y="2331720"/>
            <a:ext cx="5422392" cy="3017520"/>
          </a:xfrm>
          <a:prstGeom prst="rect">
            <a:avLst/>
          </a:prstGeom>
          <a:noFill/>
        </p:spPr>
        <p:txBody>
          <a:bodyPr wrap="square" lIns="128016" tIns="73152" rIns="128016" bIns="73152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我们要填的空白（数值 + 可能的定标律）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SNAP 相位参数与位移参数的梯度方差如何随深度 / 模数 / 能量定标？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化学 Hamiltonian cost（非态制备型）下地形长什么样？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混合 ECD+SNAP：SNAP 不加能量 —— 能否在同等表达力下避开能量惩罚？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Gibbs 目标的 η 是否加宽可训练区间？（完全无人做）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• 加噪声后：CV 版噪声诱导 BP。</a:t>
            </a:r>
            <a:endParaRPr sz="1350" b="0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109167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即使方向③没有胜出的 ansatz，「SNAP / ECD / 混合电路的 VQE 优化地形」也是原文点名、理论只做了一角的问题 —— 用我们现成的数值管线系统扫一遍，</a:t>
            </a:r>
            <a:r>
              <a:rPr lang="zh-CN"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也可以</a:t>
            </a:r>
            <a:r>
              <a:rPr sz="1500" b="1">
                <a:solidFill>
                  <a:srgbClr val="000000"/>
                </a:solidFill>
                <a:latin typeface="Calibri"/>
                <a:ea typeface="PingFang SC" panose="020B0400000000000000" charset="-122"/>
              </a:rPr>
              <a:t>一篇有引用价值的文章。</a:t>
            </a:r>
            <a:endParaRPr sz="1500" b="1">
              <a:solidFill>
                <a:srgbClr val="000000"/>
              </a:solidFill>
              <a:latin typeface="Calibri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6141</Words>
  <Application>WPS 文字</Application>
  <PresentationFormat>On-screen Show (4:3)</PresentationFormat>
  <Paragraphs>238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Arial</vt:lpstr>
      <vt:lpstr>Calibri</vt:lpstr>
      <vt:lpstr>Helvetica Neue</vt:lpstr>
      <vt:lpstr>PingFang SC</vt:lpstr>
      <vt:lpstr>PingFang SC Semibold</vt:lpstr>
      <vt:lpstr>微软雅黑</vt:lpstr>
      <vt:lpstr>方正雅意黑 GB18030L2</vt:lpstr>
      <vt:lpstr>汉仪书宋二KW</vt:lpstr>
      <vt:lpstr>宋体</vt:lpstr>
      <vt:lpstr>Arial Unicode MS</vt:lpstr>
      <vt:lpstr>Apple Symbols</vt:lpstr>
      <vt:lpstr>MS PGothic</vt:lpstr>
      <vt:lpstr>苹方-简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WPS_1774232198</cp:lastModifiedBy>
  <cp:revision>15</cp:revision>
  <dcterms:created xsi:type="dcterms:W3CDTF">2026-09-03T01:27:38Z</dcterms:created>
  <dcterms:modified xsi:type="dcterms:W3CDTF">2026-09-03T01:27:38Z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32AE03566405127FBAA2966AD4960824_42</vt:lpwstr>
  </property>
</Properties>
</file>